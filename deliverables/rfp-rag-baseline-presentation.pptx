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11cf6fbee104720" /><Relationship Type="http://schemas.openxmlformats.org/officeDocument/2006/relationships/extended-properties" Target="/docProps/app.xml" Id="R6d7e6eb6d49a46b6" /><Relationship Type="http://schemas.openxmlformats.org/officeDocument/2006/relationships/officeDocument" Target="/ppt/presentation.xml" Id="Ra49e7fc964f14a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e3474ef467441f"/>
  </p:sldMasterIdLst>
  <p:notesMasterIdLst>
    <p:notesMasterId xmlns:r="http://schemas.openxmlformats.org/officeDocument/2006/relationships" r:id="Red819761829e4251"/>
  </p:notesMasterIdLst>
  <p:sldIdLst>
    <p:sldId xmlns:r="http://schemas.openxmlformats.org/officeDocument/2006/relationships" id="256" r:id="R18d5d5c917c64e71"/>
    <p:sldId xmlns:r="http://schemas.openxmlformats.org/officeDocument/2006/relationships" id="257" r:id="R58e9a73166eb4679"/>
    <p:sldId xmlns:r="http://schemas.openxmlformats.org/officeDocument/2006/relationships" id="258" r:id="Rc49accc801754309"/>
    <p:sldId xmlns:r="http://schemas.openxmlformats.org/officeDocument/2006/relationships" id="259" r:id="Rd691292cf84b481e"/>
    <p:sldId xmlns:r="http://schemas.openxmlformats.org/officeDocument/2006/relationships" id="260" r:id="R13325a34dadc407a"/>
    <p:sldId xmlns:r="http://schemas.openxmlformats.org/officeDocument/2006/relationships" id="261" r:id="R4716dfe2efae4a44"/>
    <p:sldId xmlns:r="http://schemas.openxmlformats.org/officeDocument/2006/relationships" id="262" r:id="R9b6cdd75cb324f18"/>
    <p:sldId xmlns:r="http://schemas.openxmlformats.org/officeDocument/2006/relationships" id="263" r:id="Rb27d0f2e4d104ca8"/>
    <p:sldId xmlns:r="http://schemas.openxmlformats.org/officeDocument/2006/relationships" id="264" r:id="Ra295da85470b4afa"/>
    <p:sldId xmlns:r="http://schemas.openxmlformats.org/officeDocument/2006/relationships" id="265" r:id="R6ebbe30f76df428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9df5fbb9a34d10" /><Relationship Type="http://schemas.openxmlformats.org/officeDocument/2006/relationships/slideMaster" Target="/ppt/slideMasters/slideMaster1.xml" Id="Raae3474ef467441f" /><Relationship Type="http://schemas.openxmlformats.org/officeDocument/2006/relationships/notesMaster" Target="/ppt/notesMasters/notesMaster1.xml" Id="Red819761829e4251" /><Relationship Type="http://schemas.openxmlformats.org/officeDocument/2006/relationships/presProps" Target="/ppt/presProps.xml" Id="Rc61e929bf5044172" /><Relationship Type="http://schemas.openxmlformats.org/officeDocument/2006/relationships/viewProps" Target="/ppt/viewProps.xml" Id="R64b215b8c0ce44e5" /><Relationship Type="http://schemas.openxmlformats.org/officeDocument/2006/relationships/tableStyles" Target="/ppt/tableStyles.xml" Id="R38437ea8d8084ff5" /><Relationship Type="http://schemas.openxmlformats.org/officeDocument/2006/relationships/slide" Target="/ppt/slides/slide1.xml" Id="R18d5d5c917c64e71" /><Relationship Type="http://schemas.openxmlformats.org/officeDocument/2006/relationships/slide" Target="/ppt/slides/slide2.xml" Id="R58e9a73166eb4679" /><Relationship Type="http://schemas.openxmlformats.org/officeDocument/2006/relationships/slide" Target="/ppt/slides/slide3.xml" Id="Rc49accc801754309" /><Relationship Type="http://schemas.openxmlformats.org/officeDocument/2006/relationships/slide" Target="/ppt/slides/slide4.xml" Id="Rd691292cf84b481e" /><Relationship Type="http://schemas.openxmlformats.org/officeDocument/2006/relationships/slide" Target="/ppt/slides/slide5.xml" Id="R13325a34dadc407a" /><Relationship Type="http://schemas.openxmlformats.org/officeDocument/2006/relationships/slide" Target="/ppt/slides/slide6.xml" Id="R4716dfe2efae4a44" /><Relationship Type="http://schemas.openxmlformats.org/officeDocument/2006/relationships/slide" Target="/ppt/slides/slide7.xml" Id="R9b6cdd75cb324f18" /><Relationship Type="http://schemas.openxmlformats.org/officeDocument/2006/relationships/slide" Target="/ppt/slides/slide8.xml" Id="Rb27d0f2e4d104ca8" /><Relationship Type="http://schemas.openxmlformats.org/officeDocument/2006/relationships/slide" Target="/ppt/slides/slide9.xml" Id="Ra295da85470b4afa" /><Relationship Type="http://schemas.openxmlformats.org/officeDocument/2006/relationships/slide" Target="/ppt/slides/slide10.xml" Id="R6ebbe30f76df42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8d5fcd7e7b346f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efd8ef9d59d481f" /><Relationship Type="http://schemas.openxmlformats.org/officeDocument/2006/relationships/notesMaster" Target="/ppt/notesMasters/notesMaster1.xml" Id="R4f0ee779bea741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0aabb01c944633" /><Relationship Type="http://schemas.openxmlformats.org/officeDocument/2006/relationships/notesMaster" Target="/ppt/notesMasters/notesMaster1.xml" Id="Rd4402a79960248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05d2a1017604628" /><Relationship Type="http://schemas.openxmlformats.org/officeDocument/2006/relationships/notesMaster" Target="/ppt/notesMasters/notesMaster1.xml" Id="Ra701a9c618a34b4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b9e9ac88134bef" /><Relationship Type="http://schemas.openxmlformats.org/officeDocument/2006/relationships/notesMaster" Target="/ppt/notesMasters/notesMaster1.xml" Id="Rca7acfa25d6f48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f871ff531674cef" /><Relationship Type="http://schemas.openxmlformats.org/officeDocument/2006/relationships/notesMaster" Target="/ppt/notesMasters/notesMaster1.xml" Id="R1ce3fefe622943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5331d732e2c4e4e" /><Relationship Type="http://schemas.openxmlformats.org/officeDocument/2006/relationships/notesMaster" Target="/ppt/notesMasters/notesMaster1.xml" Id="Raabf47a351ce4a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45c7e12a5e49b8" /><Relationship Type="http://schemas.openxmlformats.org/officeDocument/2006/relationships/notesMaster" Target="/ppt/notesMasters/notesMaster1.xml" Id="Rc2f8865a7a4047f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a97e60f29394e74" /><Relationship Type="http://schemas.openxmlformats.org/officeDocument/2006/relationships/notesMaster" Target="/ppt/notesMasters/notesMaster1.xml" Id="Rc6530c7f8b864d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70b2172a684848" /><Relationship Type="http://schemas.openxmlformats.org/officeDocument/2006/relationships/notesMaster" Target="/ppt/notesMasters/notesMaster1.xml" Id="R820f2e6a339c457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b3285bde4764e25" /><Relationship Type="http://schemas.openxmlformats.org/officeDocument/2006/relationships/notesMaster" Target="/ppt/notesMasters/notesMaster1.xml" Id="R59eb460ab26145e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0ba3f157b740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ab1961931b4f34" /><Relationship Type="http://schemas.openxmlformats.org/officeDocument/2006/relationships/slideLayout" Target="/ppt/slideLayouts/slideLayout1.xml" Id="R7bcb0004e9f748c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bcb0004e9f748c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5038a21ed4198" /><Relationship Type="http://schemas.openxmlformats.org/officeDocument/2006/relationships/notesSlide" Target="/ppt/notesSlides/notesSlide1.xml" Id="Rfe1baa4398654ab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38493b21ec4734" /><Relationship Type="http://schemas.openxmlformats.org/officeDocument/2006/relationships/notesSlide" Target="/ppt/notesSlides/notesSlide2.xml" Id="R02ba56419b3640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1df0adcf5a4143" /><Relationship Type="http://schemas.openxmlformats.org/officeDocument/2006/relationships/notesSlide" Target="/ppt/notesSlides/notesSlide3.xml" Id="Rc9b4154b14354af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b1a8ae71e4100" /><Relationship Type="http://schemas.openxmlformats.org/officeDocument/2006/relationships/notesSlide" Target="/ppt/notesSlides/notesSlide4.xml" Id="Re8f2aeb5d1924f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9e5bb634ad4565" /><Relationship Type="http://schemas.openxmlformats.org/officeDocument/2006/relationships/notesSlide" Target="/ppt/notesSlides/notesSlide5.xml" Id="Re7e25bd51e83406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c817a5f41415e" /><Relationship Type="http://schemas.openxmlformats.org/officeDocument/2006/relationships/notesSlide" Target="/ppt/notesSlides/notesSlide6.xml" Id="R19d1551a42c84b1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f6c863bed24269" /><Relationship Type="http://schemas.openxmlformats.org/officeDocument/2006/relationships/notesSlide" Target="/ppt/notesSlides/notesSlide7.xml" Id="Rcbceb71e65c04d6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e28deee4754771" /><Relationship Type="http://schemas.openxmlformats.org/officeDocument/2006/relationships/notesSlide" Target="/ppt/notesSlides/notesSlide8.xml" Id="R749478c1d1bf4c4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71b73f1684e95" /><Relationship Type="http://schemas.openxmlformats.org/officeDocument/2006/relationships/notesSlide" Target="/ppt/notesSlides/notesSlide9.xml" Id="Rf940caad62cd46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d1b541f1bd4690" /><Relationship Type="http://schemas.openxmlformats.org/officeDocument/2006/relationships/notesSlide" Target="/ppt/notesSlides/notesSlide10.xml" Id="R5d2d2db2aab2490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9D9D58-28C6-422B-B057-3CAD56274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1D64CD-9F65-4B51-B889-715BCAF9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572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0F172A"/>
                </a:solidFill>
                <a:latin typeface="Aptos Display"/>
                <a:ea typeface="Aptos Display"/>
                <a:cs typeface="Aptos Display"/>
              </a:rPr>
              <a:t>RFP RAG Baseline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CF18F7-AFFC-42E7-ABE2-622572701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7239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E293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입찰 제안요청서 100건의 원본 HWP/PDF 기반 검색·질의응답·평가 파이프라인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5FA22-368B-4002-A268-BBF851F4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67000"/>
            <a:ext cx="2428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0D7930-1061-4146-909C-91B0D77D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43200"/>
            <a:ext cx="21621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offline scaffold complete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24F410-7F10-4370-9B71-F7536DC8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67000"/>
            <a:ext cx="2428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B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276A6-8B67-4BC8-AEBE-D2349A16C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743200"/>
            <a:ext cx="216217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rag_quality_complete=false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555149-78B2-43B4-BF89-2ADCD5E5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6670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04653-E3FF-48B3-8628-0C41C51E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43200"/>
            <a:ext cx="15430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API key optional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8703D3-71F5-48E6-88E3-7B6E8C89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876300"/>
            <a:ext cx="304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14E0FB-F80C-4FFD-9F77-AAF56CDA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573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BBAF37-C870-42C2-B008-437791DE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466850"/>
            <a:ext cx="1809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Parsed HWP/PDF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50A0EA-3438-4AEF-9F38-4A83894C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479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4E9A24-2BC9-4AF9-B547-F1BE6CC72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4574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F172A"/>
                </a:solidFill>
                <a:latin typeface="Aptos"/>
                <a:ea typeface="Aptos"/>
                <a:cs typeface="Aptos"/>
              </a:rPr>
              <a:t>Index / Retrieval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BF112D-6A57-48A0-B952-7ED9FAF9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1AD393-168C-438C-BA03-0D94E1BC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480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Cited QA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3E8BB3-176C-4A01-926E-95FF82AE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000250"/>
            <a:ext cx="76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14B81E-6A0C-47C9-93A3-E87658FC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990850"/>
            <a:ext cx="76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6B6549-EEF0-45C9-B61C-5D3D4BF3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34000"/>
            <a:ext cx="933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핵심 메시지: API 없이도 재현 가능한 RAG 골격과 평가 계약은 완성. 실제 semantic 품질은 real provider 단계에서 검증.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D4305-7F0E-4857-97D1-C637568A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25FC4-18BB-4882-A243-61826777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307160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96247B-E534-42F1-A98D-D3FBFDD2D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5DE368-EAA1-4B90-914C-076C75FF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문제 정의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E1CF0-5716-4F7B-84CE-DA7607D2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RFP 문서는 많고 길며, 사용자는 필요한 조건과 근거를 빠르게 묻고 싶다.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67188B-161B-4A97-A55F-31984694C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8D5EA-CF72-41E1-9929-C126D31BC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64A38-83A8-4158-8566-EC6C8D49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6192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7FD62-53B2-40C5-BF9D-918D408A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0025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8EA6D6-D17E-4F8F-945F-7965CE25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7650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입찰/RFP 문서 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5FC345-6F59-4DBE-9E40-7F828E97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0025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질의응답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73B07-895B-4356-B31F-0276C43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7650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요약·기관·금액·마감일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57C59A-275D-443A-8F39-10020BB3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000250"/>
            <a:ext cx="247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근거 인용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E86553-FFA5-4085-8BF5-2B4FB65A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476500"/>
            <a:ext cx="2476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doc/chunk citation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C065F6-CE66-44C8-B627-736CE4DC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원본 HWP/PDF를 파싱한 artifacts를 RAG 본문으로 쓰고, CSV는 메타데이터 registry로 제한.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F6BFE7-DB47-486A-A5D4-8A5CCA8A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76625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입찰 실무 질문을 Korean QA로 받고, 검색 결과 기반으로만 답변하도록 설계.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D351C0-76A9-4976-9244-A267F549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76625"/>
            <a:ext cx="2667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근거 없는 질문은 답하지 않고 `없는 정보`와 insufficient_context를 반환.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2A910C-0D5C-4093-8C3B-6197D59EE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627D78-4C30-46C8-B090-6DD77DD1A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151602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31CA96-09C5-4333-8F31-7C4683B46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AB5D97-32C6-4507-BC48-22A3BBE1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데이터 인벤토리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DD86C-F48D-4AB0-8BF3-6E0B0382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Unicode 파일명 이슈를 해결하고, RAG 본문은 parsed source artifacts를 source of truth로 사용한다.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8E775-08A0-4B7A-8794-5D5ADA01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D67FEE-AD3D-4620-9D4E-75DDEF3EA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9526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B8AC6-15A5-4E64-A8DE-15A352F2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428875"/>
            <a:ext cx="180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CSV row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05A74-5C13-49BA-9165-FBCE59B5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19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8AE6C9-A4B0-4128-8735-98B2773D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526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B5F6EA-3EFE-487E-88E6-F581F8B9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428875"/>
            <a:ext cx="180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parsed source 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25C3DA-96B2-43D8-B722-5AF3E3C26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3E8524-66C3-4941-9D0C-8B6B7E69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9526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BC18B3-DE06-4825-9300-101A58922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28875"/>
            <a:ext cx="180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normalized match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9385BE-5B09-42B7-AF66-1660042E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19250"/>
            <a:ext cx="2476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ABB796-D5C8-42BD-87F4-62F58D96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1952625"/>
            <a:ext cx="1809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96 / 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69BB86-EBD4-4C86-B4FD-4C2A001D2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428875"/>
            <a:ext cx="1809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HWP / PDF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ED8650-9F9E-4D70-9FD8-51ED6935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485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58F51D-DAB1-4CF7-8F8E-0E53ED17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95750"/>
            <a:ext cx="3048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정규화 결정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7EC0D5-4862-478D-AA46-8652BBEE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381500"/>
            <a:ext cx="4286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raw filename match는 0건이지만 NFC/NFD resolver로 100건 매칭.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13AAA2-B4A6-4D3B-8B97-F023CE35F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05250"/>
            <a:ext cx="4286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FA0C9E-F54B-4173-AC4F-6D1AF23B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095750"/>
            <a:ext cx="2857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Source boundary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ACEBB1-BD84-4824-851C-C12C0E95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381500"/>
            <a:ext cx="3714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CSV는 metadata registry. 본문 대체 fallback 없이 parser 품질을 별도 계측.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C05689-E299-4621-B3C5-61B662D31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1FACF1-0325-4E26-AC8D-58ADF4E5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8240535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9B6B917-7545-4A66-88C1-EB75F68A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05AA5-F088-4E39-BDA6-F3F297E3B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Architecture: source-first RAG pipeline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7B1194-9195-4A81-8E0D-0604FBD4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metadata 검사 → source parsing → chunking → local index → cited QA → evaluation gate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1F1D9-29E2-4F89-BE24-CA1791B7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33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63E37-95D0-4901-B8DD-04CE2937F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104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CSV metadata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HWP/PDF source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0C22E-D8D3-43EE-A4C3-434D196A8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381250"/>
            <a:ext cx="133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98BE0B-9347-475D-A024-76DB81F43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552700"/>
            <a:ext cx="1104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Corpus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Inspector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453300-C8EB-4EC7-A160-57C8D0281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81250"/>
            <a:ext cx="133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9BA179-B93C-49C7-AB79-1B03A573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52700"/>
            <a:ext cx="1104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Chunker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109F93-2073-4D32-A4CC-42C372A9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381250"/>
            <a:ext cx="133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81D9C2-BD7B-4013-8ABE-82934AF0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552700"/>
            <a:ext cx="1104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Offline vector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Index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6CDE0D-003F-400B-BAE2-168F393CD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81250"/>
            <a:ext cx="133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CE516D-2CF0-4554-8968-98634FDEF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52700"/>
            <a:ext cx="1104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Retriever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7F60C6-263E-4169-BF43-2F896975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381250"/>
            <a:ext cx="1333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2689AC-BCB3-47C9-9061-9E4E6D78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552700"/>
            <a:ext cx="11049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Cited QA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/ Abstain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AE20BA-AC07-43FF-8EA6-D3621588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09875"/>
            <a:ext cx="304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4CA0C5-3FBD-42BC-8D39-F5F8DAC9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09875"/>
            <a:ext cx="304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B7F432-BD49-4581-B832-9EC3B351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809875"/>
            <a:ext cx="304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15E2C3-E6A4-47EB-A0DF-2478BB07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09875"/>
            <a:ext cx="304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9DC9FE-5463-4005-8F32-DD1EBC434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809875"/>
            <a:ext cx="3048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28575">
            <a:solidFill>
              <a:srgbClr val="2563EB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B5B9C-559A-4FB1-9923-464534E9A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000500"/>
            <a:ext cx="7810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17BC8A-3161-4586-82AE-50CF7828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10050"/>
            <a:ext cx="723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Evaluation gate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47B1F4-85E2-43A6-A0AB-2463DE56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95800"/>
            <a:ext cx="7239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60개 offline query로 citation · metadata · abstention 계약 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19F93F-65A7-4EE3-BF79-1698FEC0C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196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E293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E293B"/>
                </a:solidFill>
                <a:latin typeface="Apple SD Gothic Neo"/>
                <a:ea typeface="Apple SD Gothic Neo"/>
                <a:cs typeface="Apple SD Gothic Neo"/>
              </a:rPr>
              <a:t>fake_offline은 구조 검증용 — semantic 품질 주장은 차단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2EED83-4051-4FA8-9267-AD7AAD11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57A553-E716-4951-8D7A-C8FDFDB2A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64693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6954E9-FDC9-46E4-81AE-6DB2CADB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B430D9-3067-44F3-BA34-0BC2E229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구현 결정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92B9F-5514-4AAC-8CE0-DD59FAFB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작게 완성하고, 평가 가능한 경계부터 잠갔다.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46FC87-A5C0-4681-A6F5-8DF31D18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261A23-F610-42E1-A7DA-5B148F72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859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ID / chunking contract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53C42B-034C-4566-B2DE-8A02BE08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ED43E4-3594-4880-ACAA-E12EF458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3837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doc:{csv_row_id}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D7F905-18B3-434F-B1F2-2FE13463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003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796C74-5332-4972-9FD7-64211018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60032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doc:{csv_row_id}:chunk:{n}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5897E7-F78B-419B-AF6C-9311C7A8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622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38B572-11C2-4B3C-A483-3C2CE96F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6227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0-based 3-digit row id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78494B-355E-4D46-8152-A4654B21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242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018735-05AA-4376-B250-1D63BA42F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32422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chunk_size=500, overlap=80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AA281E-EA40-4D51-9DD9-98D81608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51435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3460B8-A945-4C04-802F-5CD32BA7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238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Quality boundary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045D62-161E-46A7-8318-E20217AE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510D3-CDA1-4493-BF77-6B88FE89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3837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fake lexical retrieval 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73481D-FD8B-40C0-8E2F-DE6E13FAC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03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85B6F8-7708-4D71-9382-5150D041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0032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Korean answer with citations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1BA3D4-CC23-4F21-850A-5770D84B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622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5460B5-0F5D-40DC-91DE-2448A64FC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96227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`없는 정보` abstention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62C232-6BB9-4F4E-8942-6A550214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242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ABD8D-E7AD-4D38-BDD8-C09A94D4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24225"/>
            <a:ext cx="4210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real semantic quality는 API 단계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34C1E7-B331-481A-B1A2-158088BB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44D7CF-F618-4E6C-AE2F-236AABA0A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598554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2CDE74-22D8-48A0-9768-50609BBB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C9955-E67E-4215-9EEF-5CB348A0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평가 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A1083C-1F90-4856-BC41-6342D62FB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60개 deterministic offline query로 구조·인용·abstention 계약을 검증한다.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351B89-1A61-4007-9F5B-C81203F5E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8C46BD-F4E2-41E6-AF32-7F709DAD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9550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0D5A7E-1BB0-402A-9473-7FEFCF2FB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71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golden metadata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22E19-25E4-453B-A30A-11B0DF1F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금액·마감일·기관·요약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0E4D0-BB60-43F8-A6C4-4FC5E8FAA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714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70613D-4BC3-4A95-B8A5-272E9C2E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09550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rPr>
              <a:t>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B2795E-F56D-4215-88DE-0829BA2B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71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curated 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B4831-AD6B-4B9F-B624-56440C95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43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본문 기반 smoke QA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1F18A-F6F3-423D-B7AA-F241D319E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14500"/>
            <a:ext cx="2381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3AC02A-D03F-424E-9EF2-670CF879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95500"/>
            <a:ext cx="171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t>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F6D78E-AFF5-4AD8-A08E-C26E5400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71750"/>
            <a:ext cx="1714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abstention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90F752-719E-45D4-A6EB-1D0C50BE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43250"/>
            <a:ext cx="171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근거 없는 질문 차단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7DAAB-DF68-4425-9B8A-9335E9E2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14500"/>
            <a:ext cx="2095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6CC84E-FD21-42C6-81BB-3FE4DE7AF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095500"/>
            <a:ext cx="1428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2563EB"/>
                </a:solidFill>
                <a:latin typeface="Aptos Display"/>
                <a:ea typeface="Aptos Display"/>
                <a:cs typeface="Aptos Display"/>
              </a:defRPr>
            </a:pPr>
            <a:r>
              <a:t>60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AD4437-0F39-456E-BEFD-3EE9DB2ED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5717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A973FF-FFF1-4790-AAD4-1DFEDC64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43250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top_k =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337DD9-D14F-4D7E-8FDA-53153927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9334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평가 지표: Recall@k, MRR, citation presence/validity, metadata exact match, abstention pass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327880-2306-4FE6-86ED-F91F6439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BD0A1A-BD1D-4FE1-AABD-57F766BF4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507350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14AC40-CEDF-4527-95B8-2CE9EE10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0FED7A-F604-49D3-9029-364BBCB8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83FF0E-D99D-4CCE-8C08-999D04B0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모든 offline contract 지표는 통과. 단, real semantic 품질은 아직 claim하지 않는다.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75F94-E91F-438A-914F-3B63B9F24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495300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0D777-5F05-47E3-9EBB-1A0977A5E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8097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Recall@3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A2A194-3C7B-4C20-950B-462E188A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09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t>0.96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7BFCB-BAC2-4254-86B6-61CDDDDB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3360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1D267-173B-4174-AA66-DB11A80E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24790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Recall@5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076099-AEFB-4A3E-81EB-0D6950625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4790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t>0.96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E5D756-1263-48E6-8C28-2D3C57262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7175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53BED9-062D-41E0-B0EB-017B29F08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6860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MRR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F22798-24FD-4A9A-B07C-A5C38FDE2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860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t>0.93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D7E930-2F70-419A-90BB-77DED644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00990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6931DE-0408-4C14-8750-94E9DEE6D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12420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Citation presence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4ECEE1-6A49-43B2-B0EE-AF7D0298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12420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t>1.0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95E055-94E0-4EDC-AE4D-2956B6EB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44805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08D554-E939-4FF8-9D08-0561CBAC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5623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Citation validity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BD5577-5458-4703-B7A6-81C6E6650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5623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t>0.96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B98220-EE34-4D28-AE01-D1779132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88620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20C0A0-FF21-4FD3-8EA5-99D91FD1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0050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Metadata exact match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DE85B5-B1B2-4733-B9D5-0BB1192B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0050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t>0.875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0E1A69-FDFB-4217-B807-C07C7D324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32435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D68F61-0BFE-4A38-BF0A-F08CBB339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438650"/>
            <a:ext cx="2857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0F172A"/>
                </a:solidFill>
                <a:latin typeface="Aptos"/>
                <a:ea typeface="Aptos"/>
                <a:cs typeface="Aptos"/>
              </a:rPr>
              <a:t>Abstention pass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151167-AFE9-4BCF-997A-EFF2910A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386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t>0.90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D64A9C-9D67-41C6-8AE9-E78B3280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762500"/>
            <a:ext cx="4095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CBD5E1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C1CFFD-987E-4D41-862F-A61AA75F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095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D2464D-8678-4383-9790-AEC84F81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4787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완료 claim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455C87-9DF7-4C85-AB16-839BFD42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offline_scaffold_complete = true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E233CA-04DE-482F-A9E7-DEBD2553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33750"/>
            <a:ext cx="4095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BEB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311925-86B7-47D6-B6C8-E1AB7C0E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71875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차단 claim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BA7EB1-4F00-4265-B6BF-968BEE97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rag_quality_complete = false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71E7CE-2D77-4057-A1BA-F1060C8E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B11A8A3-7B85-43CE-A666-067855B5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8012063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B38BA2-5759-412E-B7F7-4A8E4BD8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64070-A1FE-438E-A022-76FE69D31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Demo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AE2609-E7B2-4141-93B2-8F76E2AF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답할 수 있는 질문은 citation을 붙이고, 근거 없는 질문은 명시적으로 abstain한다.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D3E235-2DC5-4686-A316-75D458784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19250"/>
            <a:ext cx="5143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3A14FA-A220-4434-9EE2-46663E0F8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0500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In-domain QA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4D7785-CFD2-49F7-A226-328BDFD7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38375"/>
            <a:ext cx="438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Q. 한영대학교 트랙운영 학사정보시스템 고도화 사업을 요약해줘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7BF071-95F0-4053-A810-95FB07C1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95625"/>
            <a:ext cx="438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E293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E293B"/>
                </a:solidFill>
                <a:latin typeface="Apple SD Gothic Neo"/>
                <a:ea typeface="Apple SD Gothic Neo"/>
                <a:cs typeface="Apple SD Gothic Neo"/>
              </a:rPr>
              <a:t>A. 검색된 근거 기준으로 사업 요약을 반환하고 doc:000:chunk:0 citation을 포함.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7711A1-A487-458B-9FCE-00CA010CA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38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warnings = []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86AF72-5731-457C-90A4-ACA9A0291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51435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201C3-1E60-4F76-AB29-D7408A78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05000"/>
            <a:ext cx="2667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Unsupported QA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75E820-B94A-4BCB-BD77-DA0D458B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4381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Q. 화성 이주선 산소탱크 발사일은 언제야?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8B94BB-CFA5-4782-B8F2-4C0B8D9B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95625"/>
            <a:ext cx="4381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E293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E293B"/>
                </a:solidFill>
                <a:latin typeface="Apple SD Gothic Neo"/>
                <a:ea typeface="Apple SD Gothic Neo"/>
                <a:cs typeface="Apple SD Gothic Neo"/>
              </a:rPr>
              <a:t>A. 검색된 제안요청서 근거만으로는 답할 수 없는 정보입니다. 없는 정보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7CAECB-A051-4339-B77B-D5550564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438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D9770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7706"/>
                </a:solidFill>
                <a:latin typeface="Aptos"/>
                <a:ea typeface="Aptos"/>
                <a:cs typeface="Aptos"/>
              </a:rPr>
              <a:t>warnings = [insufficient_context]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17A7CC-D45E-4E51-B806-6A846A629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D48BD-1335-4BC2-AA17-9D93EA95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6790423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804AC4-D537-4CBC-AF98-E235EE7F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620F86-A677-4022-89E8-6593ECBB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한계와 해석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6CCFD-48D6-4E99-BF37-E5F123C6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현재 결과는 “RAG 구조 검증”이지 “LLM semantic 품질 검증”이 아니다.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AD7FA-BCC1-476C-977F-6F56AF21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4953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F83687-D7C3-4366-8F39-C8B513E4C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859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DC2626"/>
                </a:solidFill>
                <a:latin typeface="Apple SD Gothic Neo"/>
                <a:ea typeface="Apple SD Gothic Neo"/>
                <a:cs typeface="Apple SD Gothic Neo"/>
              </a:rPr>
              <a:t>현재 한계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8218EB-E694-4D02-83CD-70DE3275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383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6C122-58CF-4F1E-93FC-704E4C6D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3837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OPENAI_API_KEY 없음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696294-5E43-4418-BE43-027CA9B16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003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0CB778-5C27-4017-9DFF-C089036D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0032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real embeddings/generation 미실행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BDD111-F2FC-4B42-BBAE-5D9D3393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622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D78488-EFAA-4F3A-B2A6-85E8F281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96227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fake lexical retrieval은 semantic 대체 아님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D9C4F5-BAD3-435D-A999-982CB6C9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242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DFBA4B-0E04-4E09-A92F-D5148DD8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32422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표·이미지·차트 이해는 후속 OCR/VLM 평가 필요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732463-E4A4-41CA-BC2A-0B0F4472E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953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BE1390-11A9-444E-8D58-1E9BC7F2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85950"/>
            <a:ext cx="228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1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그럼에도 의미 있는 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FDE75B-5C7C-4B64-BBFC-FF9EAF3B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383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79AEE7-7774-4943-9633-13222BD3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3837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데이터/ID/파일명 정합성 확보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F8280B-E974-4422-8D27-2C031597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003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6E7DF-6CF6-4173-843D-14BA9AE89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60032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retrieval → cited QA → eval end-to-end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9A62EA-D804-49FC-BF9D-59C09278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6227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7CDA9E-0A58-4876-91DE-28588636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6227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abstention/contract gate로 과장 방지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51877-A99B-47F5-9C67-0B19AD38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24225"/>
            <a:ext cx="20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2563EB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70BD60-2787-468D-A04A-6A9438684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324225"/>
            <a:ext cx="4019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real provider 실험을 붙일 기반 완성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B8F47F-FC9A-4D98-9CEF-9AACEB4D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DCD085-C1B8-4B12-BE6A-0916AC0A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981962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939ED40-EF60-41C3-80C5-594CF6FC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9BA470-5293-443A-89A0-27FC6C0C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다음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667FFF-D614-4E0E-B230-13D25741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95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제출은 보고서/PPT로 정리하고, API 또는 로컬 semantic model은 개선 실험으로 붙인다.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3120B9-1E3B-4E47-B68E-600D8F8A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192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B647BE-1F64-4392-894D-F65559EA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1743075"/>
            <a:ext cx="381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59669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59669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E2EF54-EAAD-446F-BC79-B7B65935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17430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보고서/PPT 제출본 정리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205AB-DDB0-466C-896E-D15D9978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6212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59669"/>
                </a:solidFill>
                <a:latin typeface="Apple SD Gothic Neo"/>
                <a:ea typeface="Apple SD Gothic Neo"/>
                <a:cs typeface="Apple SD Gothic Neo"/>
              </a:rPr>
              <a:t>현재 완료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B15960-C4CB-4EB0-B3BF-FDD847A7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F72CF-37A6-477C-84D0-D2E5DD3E5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524125"/>
            <a:ext cx="381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1B086B-8F5E-4AF7-B490-2D750F1CE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52412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OpenAI or local semantic provider 추가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E3C97-80C7-4763-891D-D7E23AB2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4317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품질 평가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F6EEEF-C8DD-4D44-B6B5-6B02C5C9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813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C83D92-54BD-4A77-AA82-DB2A5603C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3305175"/>
            <a:ext cx="381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4D3EDD-0E35-487D-82F5-D18B81B28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33051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BM25 / hybrid / RRF / query rewrite 비교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46D49D-2C60-48C1-951A-F1C4BFABF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2422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RAG 개선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C54A0-03B7-43B5-B7A6-236434AD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F4F741-6F3A-4011-8BE6-5EF562FC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86225"/>
            <a:ext cx="381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0F556B-14E3-44AE-A543-9A4F540C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08622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Streamlit/FastAPI 데모 UI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A7546A-FC61-4CF1-AE64-69D80219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0527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시연 강화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E5531D-2690-480B-AD6C-31563365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43450"/>
            <a:ext cx="933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D631DE-54C7-43F3-AE4D-683108A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867275"/>
            <a:ext cx="381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9C026DA-187A-4D55-910B-D27D0107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867275"/>
            <a:ext cx="495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Parser 품질/section citation 고도화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9C5BCA-11FD-4006-A406-43AE1E41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86325"/>
            <a:ext cx="238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35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t>품질 고도화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B62A20-74B5-4816-9395-56C23B2F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857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t>RFP RAG Baseline · source-first offline scaffold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51E22F-1E83-4ACC-98F2-0E37A7F43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00800"/>
            <a:ext cx="666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7186798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2026-06-13T13:02:49.1460000Z</dcterms:created>
  <dcterms:modified xsi:type="dcterms:W3CDTF">2026-06-13T13:02:49.1460000Z</dcterms:modified>
</coreProperties>
</file>